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0" r:id="rId15"/>
    <p:sldId id="266" r:id="rId16"/>
  </p:sldIdLst>
  <p:sldSz cx="9144000" cy="5143500" type="screen16x9"/>
  <p:notesSz cx="6858000" cy="9144000"/>
  <p:embeddedFontLs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ExtraLight" panose="020B0604020202020204" charset="0"/>
      <p:regular r:id="rId26"/>
      <p:bold r:id="rId27"/>
      <p:italic r:id="rId28"/>
      <p:boldItalic r:id="rId29"/>
    </p:embeddedFont>
    <p:embeddedFont>
      <p:font typeface="Roboto Medium" panose="020F0502020204030204" pitchFamily="2" charset="0"/>
      <p:regular r:id="rId30"/>
      <p:bold r:id="rId31"/>
      <p:italic r:id="rId32"/>
      <p:boldItalic r:id="rId33"/>
    </p:embeddedFont>
    <p:embeddedFont>
      <p:font typeface="Roboto Mono" panose="020F0502020204030204" pitchFamily="49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60A6F6-9B36-4E25-BDD7-3708B3B814D3}">
  <a:tblStyle styleId="{5960A6F6-9B36-4E25-BDD7-3708B3B814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font" Target="fonts/font12.fntdata"/><Relationship Id="rId30" Type="http://schemas.openxmlformats.org/officeDocument/2006/relationships/font" Target="fonts/font13.fntdata"/><Relationship Id="rId31" Type="http://schemas.openxmlformats.org/officeDocument/2006/relationships/font" Target="fonts/font14.fntdata"/><Relationship Id="rId32" Type="http://schemas.openxmlformats.org/officeDocument/2006/relationships/font" Target="fonts/font15.fntdata"/><Relationship Id="rId33" Type="http://schemas.openxmlformats.org/officeDocument/2006/relationships/font" Target="fonts/font16.fntdata"/><Relationship Id="rId34" Type="http://schemas.openxmlformats.org/officeDocument/2006/relationships/font" Target="fonts/font17.fntdata"/><Relationship Id="rId35" Type="http://schemas.openxmlformats.org/officeDocument/2006/relationships/font" Target="fonts/font18.fntdata"/><Relationship Id="rId36" Type="http://schemas.openxmlformats.org/officeDocument/2006/relationships/font" Target="fonts/font19.fntdata"/><Relationship Id="rId37" Type="http://schemas.openxmlformats.org/officeDocument/2006/relationships/font" Target="fonts/font20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1a0f13ba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1a0f13ba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1a0f13ba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1a0f13ba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55414b1d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55414b1d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55414b1d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a55414b1d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55414b1d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a55414b1d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55414b1d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a55414b1d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55414b1d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a55414b1d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55414b1d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55414b1d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55414b1d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a55414b1d_1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1a0f13ba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1a0f13ba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client.py" TargetMode="External"/><Relationship Id="rId4" Type="http://schemas.openxmlformats.org/officeDocument/2006/relationships/hyperlink" Target="http://models.py" TargetMode="External"/><Relationship Id="rId5" Type="http://schemas.openxmlformats.org/officeDocument/2006/relationships/hyperlink" Target="http://scoring.py" TargetMode="External"/><Relationship Id="rId6" Type="http://schemas.openxmlformats.org/officeDocument/2006/relationships/hyperlink" Target="http://charts.py" TargetMode="External"/><Relationship Id="rId7" Type="http://schemas.openxmlformats.org/officeDocument/2006/relationships/hyperlink" Target="http://validation.py" TargetMode="External"/><Relationship Id="rId8" Type="http://schemas.openxmlformats.org/officeDocument/2006/relationships/hyperlink" Target="http://errors.p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B7B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832075"/>
            <a:ext cx="4260300" cy="27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307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Shoot Window App</a:t>
            </a:r>
            <a:endParaRPr sz="307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17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Photography Planner</a:t>
            </a:r>
            <a:endParaRPr sz="217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4453750"/>
            <a:ext cx="35541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1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By Dafna Volpin And Nathalia Aben Athar</a:t>
            </a:r>
            <a:endParaRPr sz="1400" i="1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761125" y="50"/>
            <a:ext cx="4383000" cy="514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3F7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b="1" u="sng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sz="2320" b="1" u="sng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4"/>
          <p:cNvCxnSpPr/>
          <p:nvPr/>
        </p:nvCxnSpPr>
        <p:spPr>
          <a:xfrm>
            <a:off x="5039175" y="797600"/>
            <a:ext cx="9900" cy="39285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Rounded Rectangle 63"/>
          <p:cNvSpPr/>
          <p:nvPr/>
        </p:nvSpPr>
        <p:spPr>
          <a:xfrm>
            <a:off x="400000" y="950000"/>
            <a:ext cx="3600000" cy="3600000"/>
          </a:xfrm>
          <a:prstGeom prst="roundRect">
            <a:avLst/>
          </a:prstGeom>
          <a:solidFill>
            <a:srgbClr val="F4F4F4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144000" y="950000"/>
            <a:ext cx="3600000" cy="3600000"/>
          </a:xfrm>
          <a:prstGeom prst="roundRect">
            <a:avLst/>
          </a:prstGeom>
          <a:solidFill>
            <a:srgbClr val="E6F3F6"/>
          </a:solidFill>
          <a:ln>
            <a:solidFill>
              <a:srgbClr val="0E6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4200000" y="2400000"/>
            <a:ext cx="750000" cy="450000"/>
          </a:xfrm>
          <a:prstGeom prst="rightArrow">
            <a:avLst/>
          </a:prstGeom>
          <a:solidFill>
            <a:srgbClr val="0E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0000" y="1080000"/>
            <a:ext cx="336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Roboto"/>
              </a:rPr>
              <a:t>BEFORE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4343"/>
                </a:solidFill>
                <a:latin typeface="Roboto"/>
              </a:rPr>
              <a:t>Generic weather apps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34343"/>
                </a:solidFill>
                <a:latin typeface="Robot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Show temperature and rain chance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No sense of shoot quality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Hard to know if a day is worth booking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Same forecast for every shoot type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64000" y="1080000"/>
            <a:ext cx="336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6F8C"/>
                </a:solidFill>
                <a:latin typeface="Roboto"/>
              </a:rPr>
              <a:t>NOW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4343"/>
                </a:solidFill>
                <a:latin typeface="Roboto"/>
              </a:rPr>
              <a:t>Shoot Window App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34343"/>
                </a:solidFill>
                <a:latin typeface="Robot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Photography Score 0–100 by shoot type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Best shooting window recommendation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Clear go / no-go decision for the day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34343"/>
                </a:solidFill>
                <a:latin typeface="Roboto"/>
              </a:rPr>
              <a:t>Different weights for portrait, sunset, landscape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0000" y="4700000"/>
            <a:ext cx="83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Roboto"/>
              </a:rPr>
              <a:t>From raw weather data  →  a photographer-ready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b="1" u="sng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App Goal</a:t>
            </a:r>
            <a:endParaRPr sz="2320" b="1" u="sng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4"/>
          <p:cNvCxnSpPr/>
          <p:nvPr/>
        </p:nvCxnSpPr>
        <p:spPr>
          <a:xfrm>
            <a:off x="5039175" y="797600"/>
            <a:ext cx="9900" cy="39285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4"/>
          <p:cNvSpPr txBox="1"/>
          <p:nvPr/>
        </p:nvSpPr>
        <p:spPr>
          <a:xfrm>
            <a:off x="396575" y="829125"/>
            <a:ext cx="39945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 sz="15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300"/>
              <a:buFont typeface="Roboto"/>
              <a:buChar char="➔"/>
            </a:pP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Help outdoor photographers in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Israel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decide if a shoot day is 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worth booking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300"/>
              <a:buFont typeface="Roboto"/>
              <a:buChar char="➔"/>
            </a:pP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Convert raw weather into a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0–100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Photography Score by 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shoot type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300"/>
              <a:buFont typeface="Roboto"/>
              <a:buChar char="➔"/>
            </a:pP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Recommend the best 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shooting window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for the 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chosen date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and</a:t>
            </a:r>
            <a:r>
              <a:rPr lang="en-GB" sz="13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 location</a:t>
            </a: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300"/>
              <a:buFont typeface="Roboto"/>
              <a:buChar char="➔"/>
            </a:pPr>
            <a:r>
              <a:rPr lang="en-GB" sz="13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Guide users from weather data to analysis, score, recommendation, and action.</a:t>
            </a: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282875" y="1022850"/>
            <a:ext cx="3303300" cy="3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200"/>
              <a:buFont typeface="Roboto"/>
              <a:buChar char="➔"/>
            </a:pPr>
            <a:r>
              <a:rPr lang="en-GB" sz="12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Decision</a:t>
            </a:r>
            <a:endParaRPr sz="12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How do you know if outdoor conditions will work for your shoot?</a:t>
            </a: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200"/>
              <a:buFont typeface="Roboto"/>
              <a:buChar char="➔"/>
            </a:pPr>
            <a:r>
              <a:rPr lang="en-GB" sz="12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Score</a:t>
            </a:r>
            <a:endParaRPr sz="12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What does a Photography Score tell you that a weather app does not? </a:t>
            </a:r>
            <a:endParaRPr sz="12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200"/>
              <a:buFont typeface="Roboto"/>
              <a:buChar char="➔"/>
            </a:pPr>
            <a:r>
              <a:rPr lang="en-GB" sz="12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Window</a:t>
            </a:r>
            <a:endParaRPr sz="12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When during the day are conditions actually best for this type of shoot? </a:t>
            </a: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3837"/>
              </a:buClr>
              <a:buSzPts val="1200"/>
              <a:buFont typeface="Roboto"/>
              <a:buChar char="➔"/>
            </a:pPr>
            <a:r>
              <a:rPr lang="en-GB" sz="1200" b="1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Context</a:t>
            </a:r>
            <a:endParaRPr sz="12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Why should portrait, sunset, and landscape</a:t>
            </a: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use different weather priorities? </a:t>
            </a: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Project Architecture</a:t>
            </a:r>
            <a:endParaRPr sz="2320" u="sng">
              <a:solidFill>
                <a:srgbClr val="43434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15"/>
          <p:cNvSpPr/>
          <p:nvPr/>
        </p:nvSpPr>
        <p:spPr>
          <a:xfrm>
            <a:off x="923925" y="1116030"/>
            <a:ext cx="1289700" cy="1003500"/>
          </a:xfrm>
          <a:prstGeom prst="roundRect">
            <a:avLst>
              <a:gd name="adj" fmla="val 16667"/>
            </a:avLst>
          </a:prstGeom>
          <a:solidFill>
            <a:srgbClr val="33B7B3">
              <a:alpha val="32280"/>
            </a:srgbClr>
          </a:solidFill>
          <a:ln w="80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 b="1">
                <a:solidFill>
                  <a:schemeClr val="dk1"/>
                </a:solidFill>
              </a:rPr>
              <a:t>app.py</a:t>
            </a:r>
            <a:endParaRPr sz="1343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 b="1">
                <a:solidFill>
                  <a:schemeClr val="dk1"/>
                </a:solidFill>
              </a:rPr>
              <a:t>Streamlit UI</a:t>
            </a:r>
            <a:endParaRPr sz="1343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</a:rPr>
              <a:t>User input &amp; results</a:t>
            </a:r>
            <a:endParaRPr sz="924">
              <a:solidFill>
                <a:schemeClr val="accent2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231585" y="1541677"/>
            <a:ext cx="426600" cy="21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B7B3"/>
          </a:solidFill>
          <a:ln w="8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76"/>
          </a:p>
        </p:txBody>
      </p:sp>
      <p:sp>
        <p:nvSpPr>
          <p:cNvPr id="74" name="Google Shape;74;p15"/>
          <p:cNvSpPr/>
          <p:nvPr/>
        </p:nvSpPr>
        <p:spPr>
          <a:xfrm>
            <a:off x="2731902" y="647700"/>
            <a:ext cx="2911500" cy="1791900"/>
          </a:xfrm>
          <a:prstGeom prst="roundRect">
            <a:avLst>
              <a:gd name="adj" fmla="val 16667"/>
            </a:avLst>
          </a:prstGeom>
          <a:solidFill>
            <a:srgbClr val="33B7B3">
              <a:alpha val="32280"/>
            </a:srgbClr>
          </a:solidFill>
          <a:ln w="80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899982" y="814753"/>
            <a:ext cx="1895400" cy="30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000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8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client.py</a:t>
            </a:r>
            <a:r>
              <a:rPr lang="en-GB" sz="100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92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OpenWeather API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899982" y="1178204"/>
            <a:ext cx="1895400" cy="30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000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8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models.py</a:t>
            </a:r>
            <a:r>
              <a:rPr lang="en-GB" sz="100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92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JSON -&gt; objects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899982" y="1541656"/>
            <a:ext cx="1895400" cy="30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000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8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scoring.py</a:t>
            </a:r>
            <a:r>
              <a:rPr lang="en-GB" sz="1008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 Photography Score</a:t>
            </a:r>
            <a:endParaRPr sz="84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2899982" y="1905107"/>
            <a:ext cx="1895400" cy="30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000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8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charts.py</a:t>
            </a:r>
            <a:r>
              <a:rPr lang="en-GB" sz="100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n-GB" sz="92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Plotly Visuals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958833" y="1209059"/>
            <a:ext cx="9723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6" u="sng">
                <a:solidFill>
                  <a:schemeClr val="hlink"/>
                </a:solidFill>
                <a:hlinkClick r:id="rId7"/>
              </a:rPr>
              <a:t>Validation.py</a:t>
            </a:r>
            <a:endParaRPr sz="756">
              <a:solidFill>
                <a:srgbClr val="193837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6">
              <a:solidFill>
                <a:srgbClr val="193837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6" u="sng">
                <a:solidFill>
                  <a:schemeClr val="hlink"/>
                </a:solidFill>
                <a:hlinkClick r:id="rId8"/>
              </a:rPr>
              <a:t>errors.py</a:t>
            </a:r>
            <a:endParaRPr sz="756">
              <a:solidFill>
                <a:srgbClr val="193837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6">
              <a:solidFill>
                <a:srgbClr val="193837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883323" y="887636"/>
            <a:ext cx="75900" cy="131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8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76"/>
          </a:p>
        </p:txBody>
      </p:sp>
      <p:sp>
        <p:nvSpPr>
          <p:cNvPr id="81" name="Google Shape;81;p15"/>
          <p:cNvSpPr/>
          <p:nvPr/>
        </p:nvSpPr>
        <p:spPr>
          <a:xfrm>
            <a:off x="5716968" y="1511008"/>
            <a:ext cx="426600" cy="21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B7B3"/>
          </a:solidFill>
          <a:ln w="8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76"/>
          </a:p>
        </p:txBody>
      </p:sp>
      <p:sp>
        <p:nvSpPr>
          <p:cNvPr id="82" name="Google Shape;82;p15"/>
          <p:cNvSpPr/>
          <p:nvPr/>
        </p:nvSpPr>
        <p:spPr>
          <a:xfrm>
            <a:off x="6161111" y="855645"/>
            <a:ext cx="1849500" cy="1375800"/>
          </a:xfrm>
          <a:prstGeom prst="roundRect">
            <a:avLst>
              <a:gd name="adj" fmla="val 16667"/>
            </a:avLst>
          </a:prstGeom>
          <a:solidFill>
            <a:srgbClr val="1CCB8E">
              <a:alpha val="31650"/>
            </a:srgbClr>
          </a:solidFill>
          <a:ln w="80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 b="1">
                <a:solidFill>
                  <a:schemeClr val="accent2"/>
                </a:solidFill>
              </a:rPr>
              <a:t>Decision Output</a:t>
            </a:r>
            <a:endParaRPr sz="1343" b="1">
              <a:solidFill>
                <a:schemeClr val="accent2"/>
              </a:solidFill>
            </a:endParaRPr>
          </a:p>
          <a:p>
            <a:pPr marL="383897" lvl="0" indent="-261262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92"/>
              <a:buChar char="●"/>
            </a:pPr>
            <a:r>
              <a:rPr lang="en-GB" sz="1092">
                <a:solidFill>
                  <a:schemeClr val="accent2"/>
                </a:solidFill>
              </a:rPr>
              <a:t>Score 0 - 100</a:t>
            </a:r>
            <a:endParaRPr sz="1092">
              <a:solidFill>
                <a:schemeClr val="accent2"/>
              </a:solidFill>
            </a:endParaRPr>
          </a:p>
          <a:p>
            <a:pPr marL="383897" lvl="0" indent="-261262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92"/>
              <a:buChar char="●"/>
            </a:pPr>
            <a:r>
              <a:rPr lang="en-GB" sz="1092">
                <a:solidFill>
                  <a:schemeClr val="accent2"/>
                </a:solidFill>
              </a:rPr>
              <a:t>Best window</a:t>
            </a:r>
            <a:endParaRPr sz="1092">
              <a:solidFill>
                <a:schemeClr val="accent2"/>
              </a:solidFill>
            </a:endParaRPr>
          </a:p>
          <a:p>
            <a:pPr marL="383897" lvl="0" indent="-261262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92"/>
              <a:buChar char="●"/>
            </a:pPr>
            <a:r>
              <a:rPr lang="en-GB" sz="1092">
                <a:solidFill>
                  <a:schemeClr val="accent2"/>
                </a:solidFill>
              </a:rPr>
              <a:t>Recommendation</a:t>
            </a:r>
            <a:endParaRPr sz="1092">
              <a:solidFill>
                <a:schemeClr val="accent2"/>
              </a:solidFill>
            </a:endParaRPr>
          </a:p>
        </p:txBody>
      </p:sp>
      <p:graphicFrame>
        <p:nvGraphicFramePr>
          <p:cNvPr id="83" name="Google Shape;83;p15"/>
          <p:cNvGraphicFramePr/>
          <p:nvPr/>
        </p:nvGraphicFramePr>
        <p:xfrm>
          <a:off x="463250" y="2742675"/>
          <a:ext cx="7852625" cy="1078675"/>
        </p:xfrm>
        <a:graphic>
          <a:graphicData uri="http://schemas.openxmlformats.org/drawingml/2006/table">
            <a:tbl>
              <a:tblPr>
                <a:noFill/>
                <a:tableStyleId>{5960A6F6-9B36-4E25-BDD7-3708B3B814D3}</a:tableStyleId>
              </a:tblPr>
              <a:tblGrid>
                <a:gridCol w="13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app.py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photo_planner/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tests/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data/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notebooks/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docs/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</a:rPr>
                        <a:t>Setup files</a:t>
                      </a:r>
                      <a:endParaRPr sz="900"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Streamlit entry point: takes user input, calls modules, and displays results </a:t>
                      </a:r>
                      <a:endParaRPr sz="8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product core (API, models, score, validation, charts, errors) 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unit tests for models, scoring, and validation 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sample data (e.g. forecast JSON) for development without relying only on the API 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API exploration and experiments (Colab) 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project documentation (pair work, deploy, playbooks) 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Requirements.txt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.env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README.md</a:t>
                      </a:r>
                      <a:endParaRPr sz="900"/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Project Architecture:</a:t>
            </a:r>
            <a:r>
              <a:rPr lang="en-GB" sz="232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212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Inside </a:t>
            </a:r>
            <a:r>
              <a:rPr lang="en-GB" sz="2120">
                <a:solidFill>
                  <a:srgbClr val="434343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photo_planner/</a:t>
            </a:r>
            <a:endParaRPr sz="2120">
              <a:solidFill>
                <a:srgbClr val="434343"/>
              </a:solidFill>
              <a:highlight>
                <a:srgbClr val="FFF2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6"/>
          <p:cNvSpPr/>
          <p:nvPr/>
        </p:nvSpPr>
        <p:spPr>
          <a:xfrm>
            <a:off x="311700" y="819150"/>
            <a:ext cx="2552700" cy="284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295650" y="819150"/>
            <a:ext cx="2552700" cy="284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3F7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279600" y="819150"/>
            <a:ext cx="2552700" cy="284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756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68875" y="870450"/>
            <a:ext cx="18861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24807D"/>
                </a:solidFill>
                <a:latin typeface="Roboto"/>
                <a:ea typeface="Roboto"/>
                <a:cs typeface="Roboto"/>
                <a:sym typeface="Roboto"/>
              </a:rPr>
              <a:t>1. Get &amp; Structure data</a:t>
            </a:r>
            <a:endParaRPr sz="1100" b="1">
              <a:solidFill>
                <a:srgbClr val="24807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561275" y="870450"/>
            <a:ext cx="20766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3F7D58"/>
                </a:solidFill>
                <a:latin typeface="Roboto"/>
                <a:ea typeface="Roboto"/>
                <a:cs typeface="Roboto"/>
                <a:sym typeface="Roboto"/>
              </a:rPr>
              <a:t>2. Think like a photographer</a:t>
            </a:r>
            <a:endParaRPr sz="1100" b="1">
              <a:solidFill>
                <a:srgbClr val="3F7D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517650" y="870450"/>
            <a:ext cx="20766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7565CC"/>
                </a:solidFill>
                <a:latin typeface="Roboto"/>
                <a:ea typeface="Roboto"/>
                <a:cs typeface="Roboto"/>
                <a:sym typeface="Roboto"/>
              </a:rPr>
              <a:t>3. Show results safely</a:t>
            </a:r>
            <a:endParaRPr sz="1100" b="1">
              <a:solidFill>
                <a:srgbClr val="7565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4100" y="1219350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4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Client.py</a:t>
            </a:r>
            <a:endParaRPr sz="1424" b="1">
              <a:solidFill>
                <a:srgbClr val="0E6F8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Validate City + Call OpenWeatherMap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Keep internet/API code isolated</a:t>
            </a:r>
            <a:endParaRPr sz="924" i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64100" y="2409975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E6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24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models.py</a:t>
            </a:r>
            <a:endParaRPr sz="1424" b="1">
              <a:solidFill>
                <a:srgbClr val="0E6F8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Turns JSON into Python objects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Parsing stays separate from UI and scoring</a:t>
            </a:r>
            <a:endParaRPr sz="924">
              <a:solidFill>
                <a:schemeClr val="accent2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442050" y="1314600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3F7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4" b="1">
                <a:solidFill>
                  <a:srgbClr val="3F7D58"/>
                </a:solidFill>
                <a:latin typeface="Roboto"/>
                <a:ea typeface="Roboto"/>
                <a:cs typeface="Roboto"/>
                <a:sym typeface="Roboto"/>
              </a:rPr>
              <a:t>scoring.py</a:t>
            </a:r>
            <a:endParaRPr sz="1424" b="1">
              <a:solidFill>
                <a:srgbClr val="3F7D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Photography Score + best window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Product logic lives in one place</a:t>
            </a:r>
            <a:endParaRPr sz="924" i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442050" y="2505225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3F7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4" b="1">
                <a:solidFill>
                  <a:srgbClr val="3F7D58"/>
                </a:solidFill>
                <a:latin typeface="Roboto"/>
                <a:ea typeface="Roboto"/>
                <a:cs typeface="Roboto"/>
                <a:sym typeface="Roboto"/>
              </a:rPr>
              <a:t>validation.py</a:t>
            </a:r>
            <a:endParaRPr sz="1424" b="1">
              <a:solidFill>
                <a:srgbClr val="3F7D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Validates inputs (shoot type)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Bad inputs fail early, before scoring</a:t>
            </a:r>
            <a:endParaRPr sz="924">
              <a:solidFill>
                <a:schemeClr val="accent2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20000" y="1314600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756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4" b="1">
                <a:solidFill>
                  <a:srgbClr val="7565CC"/>
                </a:solidFill>
                <a:latin typeface="Roboto"/>
                <a:ea typeface="Roboto"/>
                <a:cs typeface="Roboto"/>
                <a:sym typeface="Roboto"/>
              </a:rPr>
              <a:t>charts.py</a:t>
            </a:r>
            <a:endParaRPr sz="1424" b="1">
              <a:solidFill>
                <a:srgbClr val="756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Plotly visualizations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Display code doesn’t mix with scoring</a:t>
            </a:r>
            <a:endParaRPr sz="924" i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420000" y="2505225"/>
            <a:ext cx="2259900" cy="96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756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775" tIns="76775" rIns="76775" bIns="76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4" b="1">
                <a:solidFill>
                  <a:srgbClr val="AA97EB"/>
                </a:solidFill>
                <a:latin typeface="Roboto"/>
                <a:ea typeface="Roboto"/>
                <a:cs typeface="Roboto"/>
                <a:sym typeface="Roboto"/>
              </a:rPr>
              <a:t>errors.py</a:t>
            </a:r>
            <a:endParaRPr sz="1424" b="1">
              <a:solidFill>
                <a:srgbClr val="AA9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User-friendly UI errors</a:t>
            </a: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4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24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Reason: API failures become clear messages</a:t>
            </a:r>
            <a:endParaRPr sz="924">
              <a:solidFill>
                <a:schemeClr val="accent2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02225" y="4061325"/>
            <a:ext cx="74511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Data Flow:</a:t>
            </a:r>
            <a:endParaRPr sz="11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validation</a:t>
            </a:r>
            <a:r>
              <a:rPr lang="en-GB" sz="1100">
                <a:solidFill>
                  <a:schemeClr val="dk1"/>
                </a:solidFill>
              </a:rPr>
              <a:t> (city) → </a:t>
            </a:r>
            <a:r>
              <a:rPr lang="en-GB" sz="1100">
                <a:solidFill>
                  <a:srgbClr val="0E6F8C"/>
                </a:solidFill>
                <a:latin typeface="Roboto Mono"/>
                <a:ea typeface="Roboto Mono"/>
                <a:cs typeface="Roboto Mono"/>
                <a:sym typeface="Roboto Mono"/>
              </a:rPr>
              <a:t>client.py</a:t>
            </a: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rgbClr val="0E6F8C"/>
                </a:solidFill>
                <a:latin typeface="Roboto Mono"/>
                <a:ea typeface="Roboto Mono"/>
                <a:cs typeface="Roboto Mono"/>
                <a:sym typeface="Roboto Mono"/>
              </a:rPr>
              <a:t>models.py</a:t>
            </a: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validation</a:t>
            </a:r>
            <a:r>
              <a:rPr lang="en-GB" sz="1100">
                <a:solidFill>
                  <a:schemeClr val="dk1"/>
                </a:solidFill>
              </a:rPr>
              <a:t> (shoot type) →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scoring.py</a:t>
            </a: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rgbClr val="7565CC"/>
                </a:solidFill>
                <a:latin typeface="Roboto Mono"/>
                <a:ea typeface="Roboto Mono"/>
                <a:cs typeface="Roboto Mono"/>
                <a:sym typeface="Roboto Mono"/>
              </a:rPr>
              <a:t>charts.py</a:t>
            </a: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 b="1">
              <a:solidFill>
                <a:srgbClr val="24807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Errors.py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" name="Google Shape;109;p17"/>
          <p:cNvSpPr txBox="1"/>
          <p:nvPr/>
        </p:nvSpPr>
        <p:spPr>
          <a:xfrm>
            <a:off x="396575" y="832500"/>
            <a:ext cx="7528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Friendly errors, not crash message</a:t>
            </a:r>
            <a:endParaRPr sz="1200" b="1">
              <a:solidFill>
                <a:srgbClr val="0E6F8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Purpose: Name problems the app can catch and show clearly. </a:t>
            </a:r>
            <a:endParaRPr sz="900" i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In </a:t>
            </a:r>
            <a:r>
              <a:rPr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errors.py</a:t>
            </a:r>
            <a:r>
              <a:rPr lang="en-GB" sz="900">
                <a:solidFill>
                  <a:schemeClr val="dk1"/>
                </a:solidFill>
              </a:rPr>
              <a:t>, all classes are custom errors. The idea: when something goes wrong, the app raises a specific error type, and </a:t>
            </a:r>
            <a:r>
              <a:rPr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-GB" sz="900">
                <a:solidFill>
                  <a:schemeClr val="dk1"/>
                </a:solidFill>
              </a:rPr>
              <a:t> shows a clear message, instead of a hard traceback. </a:t>
            </a:r>
            <a:endParaRPr sz="9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Code &amp; thinking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0" name="Google Shape;110;p17"/>
          <p:cNvGraphicFramePr/>
          <p:nvPr/>
        </p:nvGraphicFramePr>
        <p:xfrm>
          <a:off x="453713" y="2132700"/>
          <a:ext cx="7639050" cy="213360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148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</a:t>
                      </a:r>
                      <a:endParaRPr sz="11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When it happens</a:t>
                      </a:r>
                      <a:endParaRPr sz="11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Raised by</a:t>
                      </a:r>
                      <a:endParaRPr sz="11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WeatherError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Parent class for all weather-app errors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Caught in app.py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InvalidCityError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Empty / invalid city (e.g. only spaces)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validation.py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InvalidShootTypeError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Shoot type not in the list (portrait, sunset, landscape)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validation.py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CityNotFoundError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API returned 404 (city does not exist)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InvalidApiKeyError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API returned 401 (missing/wrong key)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WeatherRequestError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Network, timeout, SSL, or other unexpected HTTP status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Validation.py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8"/>
          <p:cNvSpPr txBox="1"/>
          <p:nvPr/>
        </p:nvSpPr>
        <p:spPr>
          <a:xfrm>
            <a:off x="396575" y="832500"/>
            <a:ext cx="7528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Clean inputs before work starts</a:t>
            </a:r>
            <a:b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Purpose: Check city and shoot type before API or scoring.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validation.py, we clean and validate user input. Bad data fails early with a friendly error, so we don’t call the API or score useless values.</a:t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Code &amp; thinking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8" name="Google Shape;118;p18"/>
          <p:cNvGraphicFramePr/>
          <p:nvPr/>
        </p:nvGraphicFramePr>
        <p:xfrm>
          <a:off x="396575" y="2124075"/>
          <a:ext cx="8105775" cy="2009775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250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Called by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SHOOT_TYPES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Allowed types: portrait, sunset, landscape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normalize_shoot_type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, UI dropdown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normalize_city_name()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Strip city; reject empty / non-letter names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normalize_shoot_type()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Lowercase + check against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SHOOT_TYPES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scoring.py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photography_score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if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checks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Decide whether to raise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InvalidCityError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/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InvalidShootTypeError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both functions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any(char.isalpha()...)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Ensures city has at least one letter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normalize_city_name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Models.py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19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9"/>
          <p:cNvSpPr txBox="1"/>
          <p:nvPr/>
        </p:nvSpPr>
        <p:spPr>
          <a:xfrm>
            <a:off x="396575" y="832500"/>
            <a:ext cx="7528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From messy JSON to clean objects</a:t>
            </a:r>
            <a:b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Purpose: Keep only the weather fields the product needs.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GB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models.py</a:t>
            </a: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raw API JSON becomes Python objects. Scoring and charts never parse JSON — they only read clean fields.</a:t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Code &amp; thinking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472775" y="2209950"/>
          <a:ext cx="6686550" cy="2114487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Called by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HourlyConditions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Dataclass for one 3-hour weather slot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Scoring, charts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ForecastReport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Dataclass for city info + list of hours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scoring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from_slot_json()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Maps one JSON slot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HourlyConditions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from_api_json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from_api_json()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Maps full API payload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ForecastReport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client.py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slot in payload["list"]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Loop: convert every slot into an object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from_api_json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.get("rain", {}).get("3h", 0.0)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Safe rain mm when rain key is missing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from_slot_json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Client.py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20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20"/>
          <p:cNvSpPr txBox="1"/>
          <p:nvPr/>
        </p:nvSpPr>
        <p:spPr>
          <a:xfrm>
            <a:off x="336413" y="641525"/>
            <a:ext cx="7528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Talking to OpenWeatherMap</a:t>
            </a:r>
            <a:b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Purpose: Fetch the 5-day / 3-hour forecast safely.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GB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client.py</a:t>
            </a: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we talk to the internet: build request → send → handle failures → return a ForecastReport. The UI never touches HTTP.</a:t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Code &amp; thinking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444200" y="1810425"/>
          <a:ext cx="7153275" cy="2387759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187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Called by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OpenWeatherClient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 that stores API key + timeout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Created in </a:t>
                      </a:r>
                      <a:r>
                        <a:rPr lang="en-GB" sz="950">
                          <a:solidFill>
                            <a:srgbClr val="0064B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950">
                        <a:solidFill>
                          <a:srgbClr val="0064B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__init__()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Saves key; raises if missing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When client is created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Validate city → GET API → parse JSON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0064B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on “Plan shoot”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_params()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Builds query dict: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appid</a:t>
                      </a: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units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try / except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Catches SSL / network failures →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WeatherRequestError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status_code == 401/404/...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Maps HTTP codes to custom errors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get_forecast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response.json()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Turns API text into a Python dict</a:t>
                      </a:r>
                      <a:endParaRPr sz="10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Before </a:t>
                      </a:r>
                      <a:r>
                        <a:rPr lang="en-GB" sz="95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from_api_json</a:t>
                      </a:r>
                      <a:endParaRPr sz="9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5" name="Google Shape;135;p20"/>
          <p:cNvSpPr txBox="1"/>
          <p:nvPr/>
        </p:nvSpPr>
        <p:spPr>
          <a:xfrm>
            <a:off x="444200" y="4522475"/>
            <a:ext cx="62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>
                <a:solidFill>
                  <a:schemeClr val="dk1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Libraries: requests (HTTP), uses validation + models + errors </a:t>
            </a:r>
            <a:endParaRPr sz="800" i="1">
              <a:solidFill>
                <a:schemeClr val="dk1"/>
              </a:solidFill>
              <a:highlight>
                <a:srgbClr val="FFF2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Scoring.py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1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21"/>
          <p:cNvSpPr txBox="1"/>
          <p:nvPr/>
        </p:nvSpPr>
        <p:spPr>
          <a:xfrm>
            <a:off x="358475" y="661050"/>
            <a:ext cx="7528200" cy="13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The Photography Score (the product)</a:t>
            </a:r>
            <a:b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Purpose: Turn weather into a shoot decision.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GB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scoring.py</a:t>
            </a:r>
            <a: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we think like photographers: each hour gets a 0–100 score by shoot type, then we pick the best window. Weather is input; score is output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 b="1">
                <a:solidFill>
                  <a:srgbClr val="0E6F8C"/>
                </a:solidFill>
                <a:latin typeface="Roboto"/>
                <a:ea typeface="Roboto"/>
                <a:cs typeface="Roboto"/>
                <a:sym typeface="Roboto"/>
              </a:rPr>
              <a:t>Code &amp; thinking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3" name="Google Shape;143;p21"/>
          <p:cNvGraphicFramePr/>
          <p:nvPr/>
        </p:nvGraphicFramePr>
        <p:xfrm>
          <a:off x="396563" y="2028750"/>
          <a:ext cx="6677025" cy="2611760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15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90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90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Called by</a:t>
                      </a:r>
                      <a:endParaRPr sz="90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SHOOT_WEIGHTS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Dict of weights per shoot type (rain/wind/temp/clouds)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photography_score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photography_score()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 hour → score 0–100 using weighted goodness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score_forecast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hours_on_date()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Filters forecast hours to the chosen day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score_forecast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score_forecast()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Scores every hour on that day → list of (hour, score)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64B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900">
                        <a:solidFill>
                          <a:srgbClr val="0064B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best_shooting_window()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Picks highest score; returns start–end (+3h)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64B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900">
                        <a:solidFill>
                          <a:srgbClr val="0064B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hour in day_hours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Loop: score each hour on the shoot day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score_forecast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 comprehension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hour.time_text.startswith(shoot_date) filter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hours_on_date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max(..., key=...)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Finds the best (hour, score) pair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best_shooting_window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/ elif for clouds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Different ideal cloud cover per shoot type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photography_score</a:t>
                      </a:r>
                      <a:endParaRPr sz="90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4" name="Google Shape;144;p21"/>
          <p:cNvSpPr txBox="1"/>
          <p:nvPr/>
        </p:nvSpPr>
        <p:spPr>
          <a:xfrm>
            <a:off x="444200" y="4827275"/>
            <a:ext cx="62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>
                <a:solidFill>
                  <a:schemeClr val="dk1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Libraries: datetime / timedelta (window start/end times)</a:t>
            </a:r>
            <a:endParaRPr sz="800" i="1">
              <a:solidFill>
                <a:schemeClr val="dk1"/>
              </a:solidFill>
              <a:highlight>
                <a:srgbClr val="FFF2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Charts.py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2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22"/>
          <p:cNvSpPr txBox="1"/>
          <p:nvPr/>
        </p:nvSpPr>
        <p:spPr>
          <a:xfrm>
            <a:off x="358475" y="575325"/>
            <a:ext cx="7528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sz="1200" b="1">
                <a:solidFill>
                  <a:srgbClr val="0E6F8C"/>
                </a:solidFill>
                <a:latin typeface="Roboto"/>
              </a:rPr>
              <a:t>Visualizing the decision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/>
            <a:r>
              <a:rPr sz="900" b="0">
                <a:solidFill>
                  <a:srgbClr val="434343"/>
                </a:solidFill>
                <a:latin typeface="Roboto"/>
              </a:rPr>
              <a:t>Purpose: Show score and conditions across the day.</a:t>
            </a:r>
          </a:p>
          <a:p>
            <a:endParaRPr sz="900" b="0">
              <a:solidFill>
                <a:srgbClr val="434343"/>
              </a:solidFill>
              <a:latin typeface="Roboto"/>
            </a:endParaRPr>
          </a:p>
          <a:p>
            <a:r>
              <a:rPr sz="900" b="0">
                <a:solidFill>
                  <a:srgbClr val="434343"/>
                </a:solidFill>
                <a:latin typeface="Roboto"/>
              </a:rPr>
              <a:t>In charts.py, we build Plotly figures from scored hours. No API calls here — only visualization for app.py.</a:t>
            </a:r>
          </a:p>
          <a:p>
            <a:r>
              <a:rPr sz="1200" b="1">
                <a:solidFill>
                  <a:srgbClr val="0E6F8C"/>
                </a:solidFill>
                <a:latin typeface="Roboto"/>
              </a:rPr>
              <a:t>Code &amp; thinking</a:t>
            </a:r>
          </a:p>
        </p:txBody>
      </p:sp>
      <p:sp>
        <p:nvSpPr>
          <p:cNvPr id="152" name="Google Shape;152;p22"/>
          <p:cNvSpPr txBox="1"/>
          <p:nvPr/>
        </p:nvSpPr>
        <p:spPr>
          <a:xfrm>
            <a:off x="444200" y="4827275"/>
            <a:ext cx="62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1">
                <a:solidFill>
                  <a:srgbClr val="434343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Libraries: pandas and plotly.express</a:t>
            </a:r>
            <a:endParaRPr sz="800" i="1">
              <a:solidFill>
                <a:schemeClr val="dk1"/>
              </a:solidFill>
              <a:highlight>
                <a:srgbClr val="FFF2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444200" y="1781075"/>
          <a:ext cx="5857875" cy="2099056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209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8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8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Called by</a:t>
                      </a:r>
                      <a:endParaRPr sz="8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photography_score_chart()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 chart: time vs Photography Score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temperature_chart()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 chart: time vs temperature C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clouds_and_rain_chart()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Two lines: clouds % + rain %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app.py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 hour, score in scored_hours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Loop: collect X (time) and Y values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all 3 functions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.split(" ")[1]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Extracts clock time from time_text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each chart loop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px.line(...)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Builds an interactive Plotly figure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 of each function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pd.DataFrame(...)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for two Y series (clouds + rain)</a:t>
                      </a:r>
                      <a:endParaRPr sz="7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 clouds_and_rain_chart</a:t>
                      </a:r>
                      <a:endParaRPr sz="850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u="sng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App.py</a:t>
            </a:r>
            <a:endParaRPr sz="212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8"/>
          <p:cNvSpPr txBox="1"/>
          <p:nvPr/>
        </p:nvSpPr>
        <p:spPr>
          <a:xfrm>
            <a:off x="396575" y="568201"/>
            <a:ext cx="7528200" cy="142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 b="1" dirty="0">
                <a:solidFill>
                  <a:srgbClr val="0E6F8C"/>
                </a:solidFill>
                <a:latin typeface="Roboto"/>
              </a:rPr>
              <a:t>The </a:t>
            </a:r>
            <a:r>
              <a:rPr sz="1200" b="1" dirty="0" err="1">
                <a:solidFill>
                  <a:srgbClr val="0E6F8C"/>
                </a:solidFill>
                <a:latin typeface="Roboto"/>
              </a:rPr>
              <a:t>Streamlit</a:t>
            </a:r>
            <a:r>
              <a:rPr sz="1200" b="1" dirty="0">
                <a:solidFill>
                  <a:srgbClr val="0E6F8C"/>
                </a:solidFill>
                <a:latin typeface="Roboto"/>
              </a:rPr>
              <a:t> interface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/>
            <a:r>
              <a:rPr sz="900" b="0" dirty="0">
                <a:solidFill>
                  <a:srgbClr val="434343"/>
                </a:solidFill>
                <a:latin typeface="Roboto"/>
              </a:rPr>
              <a:t>Purpose: Coordinate input to analysis to recommendation on screen.</a:t>
            </a:r>
          </a:p>
          <a:p>
            <a:endParaRPr sz="900" b="0" dirty="0">
              <a:solidFill>
                <a:srgbClr val="434343"/>
              </a:solidFill>
              <a:latin typeface="Roboto"/>
            </a:endParaRPr>
          </a:p>
          <a:p>
            <a:r>
              <a:rPr sz="900" b="0" dirty="0">
                <a:solidFill>
                  <a:srgbClr val="434343"/>
                </a:solidFill>
                <a:latin typeface="Roboto"/>
              </a:rPr>
              <a:t>In app.py, the photographer chooses options and clicks Plan shoot. This file calls the other modules and displays metrics, text, and charts. It is the coordinator, not the brain.</a:t>
            </a:r>
            <a:endParaRPr lang="en-US" sz="900" b="0" dirty="0">
              <a:solidFill>
                <a:srgbClr val="434343"/>
              </a:solidFill>
              <a:latin typeface="Roboto"/>
            </a:endParaRPr>
          </a:p>
          <a:p>
            <a:endParaRPr sz="900" b="0" dirty="0">
              <a:solidFill>
                <a:srgbClr val="434343"/>
              </a:solidFill>
              <a:latin typeface="Roboto"/>
            </a:endParaRPr>
          </a:p>
          <a:p>
            <a:r>
              <a:rPr sz="1200" b="1" dirty="0">
                <a:solidFill>
                  <a:srgbClr val="0E6F8C"/>
                </a:solidFill>
                <a:latin typeface="Roboto"/>
              </a:rPr>
              <a:t>Code &amp; thinking</a:t>
            </a:r>
          </a:p>
        </p:txBody>
      </p:sp>
      <p:graphicFrame>
        <p:nvGraphicFramePr>
          <p:cNvPr id="118" name="Google Shape;118;p18"/>
          <p:cNvGraphicFramePr/>
          <p:nvPr>
            <p:extLst>
              <p:ext uri="{D42A27DB-BD31-4B8C-83A1-F6EECF244321}">
                <p14:modId xmlns:p14="http://schemas.microsoft.com/office/powerpoint/2010/main" val="1708151648"/>
              </p:ext>
            </p:extLst>
          </p:nvPr>
        </p:nvGraphicFramePr>
        <p:xfrm>
          <a:off x="498330" y="1903122"/>
          <a:ext cx="6283470" cy="2488249"/>
        </p:xfrm>
        <a:graphic>
          <a:graphicData uri="http://schemas.openxmlformats.org/drawingml/2006/table">
            <a:tbl>
              <a:tblPr>
                <a:solidFill>
                  <a:srgbClr val="FCFCFC"/>
                </a:solidFill>
                <a:tableStyleId>{5960A6F6-9B36-4E25-BDD7-3708B3B814D3}</a:tableStyleId>
              </a:tblPr>
              <a:tblGrid>
                <a:gridCol w="1905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30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Piece</a:t>
                      </a:r>
                      <a:endParaRPr sz="1050" b="1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does / When</a:t>
                      </a:r>
                      <a:endParaRPr sz="1050" b="1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Notes</a:t>
                      </a:r>
                      <a:endParaRPr sz="105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_</a:t>
                      </a:r>
                      <a:r>
                        <a:rPr lang="en-GB" sz="800" b="0" dirty="0" err="1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api_key</a:t>
                      </a: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()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Reads API key from </a:t>
                      </a:r>
                      <a:r>
                        <a:rPr lang="en-GB" sz="800" b="0" dirty="0" err="1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Streamlit</a:t>
                      </a: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secrets or .env</a:t>
                      </a:r>
                      <a:endParaRPr sz="10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Helper function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st.selectbox / date_input / time_input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 city, date, time, shoot type</a:t>
                      </a:r>
                      <a:endParaRPr sz="10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 inputs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st.button("Plan shoot")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Starts the flow when clicked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Triggers if plan: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OpenWeatherClient.get_forecast()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Fetches weather for the city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After button click</a:t>
                      </a:r>
                      <a:endParaRPr sz="10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score_forecast(...)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Scores hours for that day/type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After forecast arrives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best_shooting_window(...)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Gets best start-end + score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output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try / except WeatherError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Shows friendly error with st.error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Error handling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st.metric (x3)</a:t>
                      </a:r>
                      <a:endParaRPr sz="9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Shows score, best window, booked time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Results UI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3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 err="1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st.plotly_chart</a:t>
                      </a: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(...)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3 charts</a:t>
                      </a:r>
                      <a:endParaRPr sz="105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dirty="0">
                          <a:solidFill>
                            <a:srgbClr val="434343"/>
                          </a:solidFill>
                          <a:highlight>
                            <a:srgbClr val="FCFC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Calls charts.py</a:t>
                      </a:r>
                      <a:endParaRPr sz="950" dirty="0">
                        <a:solidFill>
                          <a:srgbClr val="141414"/>
                        </a:solidFill>
                        <a:highlight>
                          <a:srgbClr val="FCFC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5250" marR="952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498330" y="4575299"/>
            <a:ext cx="8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dirty="0">
                <a:solidFill>
                  <a:srgbClr val="434343"/>
                </a:solidFill>
                <a:latin typeface="Roboto"/>
              </a:rPr>
              <a:t>Libraries: </a:t>
            </a:r>
            <a:r>
              <a:rPr sz="900" b="0" dirty="0" err="1">
                <a:solidFill>
                  <a:srgbClr val="434343"/>
                </a:solidFill>
                <a:latin typeface="Roboto"/>
              </a:rPr>
              <a:t>streamlit</a:t>
            </a:r>
            <a:r>
              <a:rPr sz="900" b="0" dirty="0">
                <a:solidFill>
                  <a:srgbClr val="434343"/>
                </a:solidFill>
                <a:latin typeface="Roboto"/>
              </a:rPr>
              <a:t> (UI), python-</a:t>
            </a:r>
            <a:r>
              <a:rPr sz="900" b="0" dirty="0" err="1">
                <a:solidFill>
                  <a:srgbClr val="434343"/>
                </a:solidFill>
                <a:latin typeface="Roboto"/>
              </a:rPr>
              <a:t>dotenv</a:t>
            </a:r>
            <a:r>
              <a:rPr sz="900" b="0" dirty="0">
                <a:solidFill>
                  <a:srgbClr val="434343"/>
                </a:solidFill>
                <a:latin typeface="Roboto"/>
              </a:rPr>
              <a:t> (load .env key)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b="1" u="sng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Tech Stack</a:t>
            </a:r>
            <a:endParaRPr sz="2320" b="1" u="sng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4"/>
          <p:cNvCxnSpPr/>
          <p:nvPr/>
        </p:nvCxnSpPr>
        <p:spPr>
          <a:xfrm>
            <a:off x="5039175" y="797600"/>
            <a:ext cx="9900" cy="39285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4"/>
          <p:cNvSpPr txBox="1"/>
          <p:nvPr/>
        </p:nvSpPr>
        <p:spPr>
          <a:xfrm>
            <a:off x="396575" y="829125"/>
            <a:ext cx="39945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>
                <a:solidFill>
                  <a:srgbClr val="0E6F8C"/>
                </a:solidFill>
                <a:latin typeface="Roboto"/>
              </a:rPr>
              <a:t>Core</a:t>
            </a:r>
            <a:endParaRPr sz="15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Python 3 — main language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Streamlit — web UI (app.py)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requests — OpenWeatherMap API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python-dotenv — API key from .env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pip-system-certs — Windows HTTPS/SSL</a:t>
            </a:r>
          </a:p>
        </p:txBody>
      </p:sp>
      <p:sp>
        <p:nvSpPr>
          <p:cNvPr id="65" name="Google Shape;65;p14"/>
          <p:cNvSpPr txBox="1"/>
          <p:nvPr/>
        </p:nvSpPr>
        <p:spPr>
          <a:xfrm>
            <a:off x="5282875" y="1022850"/>
            <a:ext cx="3303300" cy="3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>
                <a:solidFill>
                  <a:srgbClr val="0E6F8C"/>
                </a:solidFill>
                <a:latin typeface="Roboto"/>
              </a:rPr>
              <a:t>Analysis &amp; quality</a:t>
            </a:r>
            <a:endParaRPr sz="11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pandas + plotly.express — charts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dataclasses — clean weather models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pytest — unit tests for core logic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OpenWeatherMap — 5-day / 3-hour forecast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 b="1" u="sng">
                <a:solidFill>
                  <a:srgbClr val="193837"/>
                </a:solidFill>
                <a:latin typeface="Roboto"/>
                <a:ea typeface="Roboto"/>
                <a:cs typeface="Roboto"/>
                <a:sym typeface="Roboto"/>
              </a:rPr>
              <a:t>Challenges &amp; Next Steps</a:t>
            </a:r>
            <a:endParaRPr sz="2320" b="1" u="sng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 rot="10800000" flipH="1">
            <a:off x="396575" y="535800"/>
            <a:ext cx="8406000" cy="324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4"/>
          <p:cNvCxnSpPr/>
          <p:nvPr/>
        </p:nvCxnSpPr>
        <p:spPr>
          <a:xfrm>
            <a:off x="5039175" y="797600"/>
            <a:ext cx="9900" cy="3928500"/>
          </a:xfrm>
          <a:prstGeom prst="straightConnector1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4"/>
          <p:cNvSpPr txBox="1"/>
          <p:nvPr/>
        </p:nvSpPr>
        <p:spPr>
          <a:xfrm>
            <a:off x="396575" y="829125"/>
            <a:ext cx="39945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>
                <a:solidFill>
                  <a:srgbClr val="0E6F8C"/>
                </a:solidFill>
                <a:latin typeface="Roboto"/>
              </a:rPr>
              <a:t>Challenges</a:t>
            </a:r>
            <a:endParaRPr sz="15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SSL certificate errors on Windows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Mapping nested API JSON safely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Different priorities per shoot type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Keeping UI separate from product logic</a:t>
            </a:r>
          </a:p>
        </p:txBody>
      </p:sp>
      <p:sp>
        <p:nvSpPr>
          <p:cNvPr id="65" name="Google Shape;65;p14"/>
          <p:cNvSpPr txBox="1"/>
          <p:nvPr/>
        </p:nvSpPr>
        <p:spPr>
          <a:xfrm>
            <a:off x="5282875" y="1022850"/>
            <a:ext cx="3303300" cy="3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>
                <a:solidFill>
                  <a:srgbClr val="0E6F8C"/>
                </a:solidFill>
                <a:latin typeface="Roboto"/>
              </a:rPr>
              <a:t>Next steps</a:t>
            </a:r>
            <a:endParaRPr sz="1100" b="1">
              <a:solidFill>
                <a:srgbClr val="193837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Compare cities for the same shoot day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Richer sunset timing bonus in scoring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Deploy to Streamlit Cloud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34343"/>
                </a:solidFill>
                <a:latin typeface="Roboto"/>
              </a:rPr>
              <a:t>Merge neighboring high-score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B7B3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Thank you!</a:t>
            </a:r>
            <a:endParaRPr sz="50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1928</Words>
  <Application>Microsoft Office PowerPoint</Application>
  <PresentationFormat>On-screen Show (16:9)</PresentationFormat>
  <Paragraphs>331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Roboto Mono</vt:lpstr>
      <vt:lpstr>Roboto</vt:lpstr>
      <vt:lpstr>Arial</vt:lpstr>
      <vt:lpstr>Nunito</vt:lpstr>
      <vt:lpstr>Roboto ExtraLight</vt:lpstr>
      <vt:lpstr>Roboto Medium</vt:lpstr>
      <vt:lpstr>Simple Light</vt:lpstr>
      <vt:lpstr>Shoot Window App Photography Planner</vt:lpstr>
      <vt:lpstr>The Problem</vt:lpstr>
      <vt:lpstr>App Goal</vt:lpstr>
      <vt:lpstr>Project Architecture</vt:lpstr>
      <vt:lpstr>Project Architecture: Inside photo_planner/</vt:lpstr>
      <vt:lpstr>Errors.py</vt:lpstr>
      <vt:lpstr>Validation.py</vt:lpstr>
      <vt:lpstr>Models.py</vt:lpstr>
      <vt:lpstr>Client.py</vt:lpstr>
      <vt:lpstr>Scoring.py</vt:lpstr>
      <vt:lpstr>Charts.py</vt:lpstr>
      <vt:lpstr>App.py</vt:lpstr>
      <vt:lpstr>Tech Stack</vt:lpstr>
      <vt:lpstr>Challenges &amp;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Nathalia Abenathar</cp:lastModifiedBy>
  <cp:revision>1</cp:revision>
  <dcterms:modified xsi:type="dcterms:W3CDTF">2026-09-08T10:49:02Z</dcterms:modified>
</cp:coreProperties>
</file>